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7" r:id="rId11"/>
    <p:sldId id="266" r:id="rId12"/>
    <p:sldId id="268" r:id="rId13"/>
    <p:sldId id="262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792">
          <p15:clr>
            <a:srgbClr val="A4A3A4"/>
          </p15:clr>
        </p15:guide>
        <p15:guide id="2" pos="192">
          <p15:clr>
            <a:srgbClr val="A4A3A4"/>
          </p15:clr>
        </p15:guide>
        <p15:guide id="3" orient="horz" pos="1080">
          <p15:clr>
            <a:srgbClr val="A4A3A4"/>
          </p15:clr>
        </p15:guide>
      </p15:sldGuideLst>
    </p:ext>
    <p:ext uri="http://customooxmlschemas.google.com/">
      <go:slidesCustomData xmlns=""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220" roundtripDataSignature="AMtx7miWNY2LB4ETJwrL8F0N+EK9hEhq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67"/>
      </p:cViewPr>
      <p:guideLst>
        <p:guide orient="horz" pos="792"/>
        <p:guide pos="192"/>
        <p:guide orient="horz" pos="10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2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2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20" Type="http://customschemas.google.com/relationships/presentationmetadata" Target="metadata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22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3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341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7878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1877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8266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10;p4" descr="A close up of a sign&#10;&#10;Description automatically generated">
            <a:extLst>
              <a:ext uri="{FF2B5EF4-FFF2-40B4-BE49-F238E27FC236}">
                <a16:creationId xmlns:a16="http://schemas.microsoft.com/office/drawing/2014/main" id="{CE849A3B-BCF0-B774-F89E-81965C71F93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72688" y="78002"/>
            <a:ext cx="1800225" cy="57551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153E6A6-60E4-FE14-1CBC-8CC211274D1C}"/>
              </a:ext>
            </a:extLst>
          </p:cNvPr>
          <p:cNvSpPr/>
          <p:nvPr/>
        </p:nvSpPr>
        <p:spPr>
          <a:xfrm>
            <a:off x="1" y="0"/>
            <a:ext cx="9829800" cy="717630"/>
          </a:xfrm>
          <a:prstGeom prst="rect">
            <a:avLst/>
          </a:prstGeom>
          <a:solidFill>
            <a:srgbClr val="213264"/>
          </a:solidFill>
          <a:ln>
            <a:solidFill>
              <a:srgbClr val="2132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7CE881-772B-9023-3054-4B219B75D755}"/>
              </a:ext>
            </a:extLst>
          </p:cNvPr>
          <p:cNvSpPr/>
          <p:nvPr/>
        </p:nvSpPr>
        <p:spPr>
          <a:xfrm>
            <a:off x="9888967" y="-419"/>
            <a:ext cx="112283" cy="732357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1" name="Picture 30" descr="A blue and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16A7B69A-9B14-87FE-841D-37F0A91D141D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 amt="16000"/>
          </a:blip>
          <a:srcRect t="24724" r="1619" b="63695"/>
          <a:stretch/>
        </p:blipFill>
        <p:spPr>
          <a:xfrm>
            <a:off x="0" y="-1"/>
            <a:ext cx="9839325" cy="72390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7B91A16-5D54-2FC0-B0FD-A78085FC1313}"/>
              </a:ext>
            </a:extLst>
          </p:cNvPr>
          <p:cNvSpPr/>
          <p:nvPr/>
        </p:nvSpPr>
        <p:spPr>
          <a:xfrm>
            <a:off x="11925300" y="-419"/>
            <a:ext cx="266700" cy="732357"/>
          </a:xfrm>
          <a:prstGeom prst="rect">
            <a:avLst/>
          </a:prstGeom>
          <a:solidFill>
            <a:srgbClr val="FE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  <p:sldLayoutId id="2147483701" r:id="rId2"/>
    <p:sldLayoutId id="2147483714" r:id="rId3"/>
    <p:sldLayoutId id="2147483727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freepik.co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501/" TargetMode="External"/><Relationship Id="rId2" Type="http://schemas.openxmlformats.org/officeDocument/2006/relationships/hyperlink" Target="https://github.com/Mdanas198957/EV_Vehicle_Demand_Prediction.git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sitting at a desk with a computer&#10;&#10;Description automatically generated">
            <a:extLst>
              <a:ext uri="{FF2B5EF4-FFF2-40B4-BE49-F238E27FC236}">
                <a16:creationId xmlns:a16="http://schemas.microsoft.com/office/drawing/2014/main" id="{07B8740D-C76F-46FC-AEFB-23FB0614D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1857762-AD52-483C-B3E1-635C5BBC6F2F}"/>
              </a:ext>
            </a:extLst>
          </p:cNvPr>
          <p:cNvSpPr/>
          <p:nvPr/>
        </p:nvSpPr>
        <p:spPr>
          <a:xfrm>
            <a:off x="5873750" y="584200"/>
            <a:ext cx="4673600" cy="977900"/>
          </a:xfrm>
          <a:prstGeom prst="roundRect">
            <a:avLst/>
          </a:prstGeom>
          <a:solidFill>
            <a:srgbClr val="EBEEF9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067E9C-C7B9-4476-9708-CBB3F66FD892}"/>
              </a:ext>
            </a:extLst>
          </p:cNvPr>
          <p:cNvSpPr txBox="1"/>
          <p:nvPr/>
        </p:nvSpPr>
        <p:spPr>
          <a:xfrm>
            <a:off x="4376056" y="3429000"/>
            <a:ext cx="73525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EV Charging Demand Prediction</a:t>
            </a:r>
          </a:p>
          <a:p>
            <a:r>
              <a:rPr lang="en-US" sz="3600" b="1" dirty="0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		      </a:t>
            </a:r>
            <a:r>
              <a:rPr lang="en-US" sz="3000" b="1" dirty="0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By Mohammed Anas Abrar</a:t>
            </a:r>
          </a:p>
          <a:p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		       ID:</a:t>
            </a: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STU6797738f38f3a1737978767</a:t>
            </a:r>
            <a:r>
              <a:rPr lang="en-US" sz="3600" b="1" dirty="0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3600" b="1" dirty="0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7224A59-2417-428A-A991-E468431BB817}"/>
              </a:ext>
            </a:extLst>
          </p:cNvPr>
          <p:cNvGrpSpPr/>
          <p:nvPr/>
        </p:nvGrpSpPr>
        <p:grpSpPr>
          <a:xfrm>
            <a:off x="6890523" y="742091"/>
            <a:ext cx="2640053" cy="664378"/>
            <a:chOff x="2375536" y="1112060"/>
            <a:chExt cx="3292636" cy="828603"/>
          </a:xfrm>
        </p:grpSpPr>
        <p:pic>
          <p:nvPicPr>
            <p:cNvPr id="7" name="Picture 6" descr="A close up of a logo&#10;&#10;Description automatically generated">
              <a:extLst>
                <a:ext uri="{FF2B5EF4-FFF2-40B4-BE49-F238E27FC236}">
                  <a16:creationId xmlns:a16="http://schemas.microsoft.com/office/drawing/2014/main" id="{BD3530AF-9771-470E-A9BF-F28AA22753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2781" y="1270168"/>
              <a:ext cx="1575391" cy="512386"/>
            </a:xfrm>
            <a:prstGeom prst="rect">
              <a:avLst/>
            </a:prstGeom>
          </p:spPr>
        </p:pic>
        <p:pic>
          <p:nvPicPr>
            <p:cNvPr id="8" name="Picture 7" descr="A yellow and red shell logo&#10;&#10;Description automatically generated">
              <a:extLst>
                <a:ext uri="{FF2B5EF4-FFF2-40B4-BE49-F238E27FC236}">
                  <a16:creationId xmlns:a16="http://schemas.microsoft.com/office/drawing/2014/main" id="{75E6A819-9F3F-4787-A707-A7415C302B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75536" y="1112060"/>
              <a:ext cx="985475" cy="828603"/>
            </a:xfrm>
            <a:prstGeom prst="rect">
              <a:avLst/>
            </a:prstGeom>
          </p:spPr>
        </p:pic>
      </p:grpSp>
      <p:sp>
        <p:nvSpPr>
          <p:cNvPr id="10" name="Rectangle 3">
            <a:extLst>
              <a:ext uri="{FF2B5EF4-FFF2-40B4-BE49-F238E27FC236}">
                <a16:creationId xmlns:a16="http://schemas.microsoft.com/office/drawing/2014/main" id="{C31C477D-AEE3-4A4B-A259-155931FE84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solidFill>
            <a:srgbClr val="F6FFF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7FBA00"/>
                </a:solidFill>
                <a:effectLst/>
                <a:latin typeface="-apple-system"/>
              </a:rPr>
              <a:t>STU6797738f38f3a1737978767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127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94E319-C77C-49E2-964C-6E125D716194}"/>
              </a:ext>
            </a:extLst>
          </p:cNvPr>
          <p:cNvSpPr txBox="1"/>
          <p:nvPr/>
        </p:nvSpPr>
        <p:spPr>
          <a:xfrm>
            <a:off x="191911" y="972537"/>
            <a:ext cx="26528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</a:rPr>
              <a:t>Learning Objectives</a:t>
            </a:r>
            <a:endParaRPr lang="en-IN" sz="2000" dirty="0">
              <a:solidFill>
                <a:srgbClr val="213163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1F3497-5370-4874-9908-5AD45214E10B}"/>
              </a:ext>
            </a:extLst>
          </p:cNvPr>
          <p:cNvSpPr txBox="1"/>
          <p:nvPr/>
        </p:nvSpPr>
        <p:spPr>
          <a:xfrm>
            <a:off x="199809" y="6135329"/>
            <a:ext cx="7958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b="1" dirty="0">
                <a:latin typeface="+mn-lt"/>
              </a:rPr>
              <a:t>Source :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E830DD-8813-42EB-B27B-B7D85423D0C7}"/>
              </a:ext>
            </a:extLst>
          </p:cNvPr>
          <p:cNvSpPr txBox="1"/>
          <p:nvPr/>
        </p:nvSpPr>
        <p:spPr>
          <a:xfrm>
            <a:off x="880529" y="6135329"/>
            <a:ext cx="18423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dirty="0">
                <a:solidFill>
                  <a:srgbClr val="0000FF"/>
                </a:solidFill>
                <a:latin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www.freepik.com/</a:t>
            </a:r>
            <a:endParaRPr lang="en-IN" sz="1200" dirty="0">
              <a:solidFill>
                <a:srgbClr val="0000FF"/>
              </a:solidFill>
              <a:latin typeface="+mn-lt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22F707-7F22-48A3-97EC-98EFB1023A55}"/>
              </a:ext>
            </a:extLst>
          </p:cNvPr>
          <p:cNvCxnSpPr/>
          <p:nvPr/>
        </p:nvCxnSpPr>
        <p:spPr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ladder leading to a large yellow circle&#10;&#10;Description automatically generated">
            <a:extLst>
              <a:ext uri="{FF2B5EF4-FFF2-40B4-BE49-F238E27FC236}">
                <a16:creationId xmlns:a16="http://schemas.microsoft.com/office/drawing/2014/main" id="{E2920B14-B344-4926-9729-BC7EBD91FF9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85000"/>
          </a:blip>
          <a:srcRect l="13763" t="6135" r="13650"/>
          <a:stretch/>
        </p:blipFill>
        <p:spPr>
          <a:xfrm>
            <a:off x="7345680" y="1442720"/>
            <a:ext cx="4500880" cy="46329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264928-EACB-4739-BDDA-6799C99356F3}"/>
              </a:ext>
            </a:extLst>
          </p:cNvPr>
          <p:cNvSpPr txBox="1"/>
          <p:nvPr/>
        </p:nvSpPr>
        <p:spPr>
          <a:xfrm>
            <a:off x="8839200" y="3168609"/>
            <a:ext cx="150368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3500" b="1" dirty="0">
                <a:solidFill>
                  <a:schemeClr val="tx1"/>
                </a:solidFill>
                <a:latin typeface="+mn-lt"/>
              </a:rPr>
              <a:t>GOAL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B90F5356-7AA4-4E9E-8D3A-C97C161112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535" y="3259123"/>
            <a:ext cx="5061466" cy="227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13ECE8-3BCB-4F2C-A416-631BFC440E51}"/>
              </a:ext>
            </a:extLst>
          </p:cNvPr>
          <p:cNvSpPr txBox="1"/>
          <p:nvPr/>
        </p:nvSpPr>
        <p:spPr>
          <a:xfrm>
            <a:off x="199809" y="1442720"/>
            <a:ext cx="7145871" cy="4534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About: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800" dirty="0"/>
              <a:t>Electric vehicles (EVs) can be categorized into several types, each with its own system architecture and operational characteristics.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Goal: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800" dirty="0"/>
              <a:t>Build a machine learning pipeline to forecast electric vehicle (EV) growth and estimate future charging infrastructure needs based on county-level historical data.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Objectives: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Understand EV data trends and patterns across time and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geography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Implement supervised learning for forecasting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Deploy models using real-world frameworks (Joblib + Streamlit)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Gain experience in predictive sustainability projects.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2052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135834" y="1067664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213163"/>
                </a:solidFill>
              </a:rPr>
              <a:t>T</a:t>
            </a:r>
            <a:r>
              <a:rPr lang="en-IN" sz="2000" b="1" dirty="0" err="1">
                <a:solidFill>
                  <a:srgbClr val="213163"/>
                </a:solidFill>
              </a:rPr>
              <a:t>ools</a:t>
            </a:r>
            <a:r>
              <a:rPr lang="en-IN" sz="2000" b="1" dirty="0">
                <a:solidFill>
                  <a:srgbClr val="213163"/>
                </a:solidFill>
              </a:rPr>
              <a:t> and Technology used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215C41-FC9E-4B9D-9C29-FD4F3FC57D62}"/>
              </a:ext>
            </a:extLst>
          </p:cNvPr>
          <p:cNvSpPr txBox="1"/>
          <p:nvPr/>
        </p:nvSpPr>
        <p:spPr>
          <a:xfrm>
            <a:off x="257940" y="1467774"/>
            <a:ext cx="11402008" cy="5551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Languages</a:t>
            </a:r>
            <a:r>
              <a:rPr lang="en-US" dirty="0"/>
              <a:t>:</a:t>
            </a:r>
          </a:p>
          <a:p>
            <a:r>
              <a:rPr lang="en-US" dirty="0"/>
              <a:t> 	Python == 3.12.8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Environment used: </a:t>
            </a:r>
            <a:r>
              <a:rPr lang="en-US" dirty="0"/>
              <a:t>VS code, </a:t>
            </a:r>
            <a:r>
              <a:rPr lang="en-US" dirty="0" err="1"/>
              <a:t>Jupyter</a:t>
            </a:r>
            <a:r>
              <a:rPr lang="en-US" dirty="0"/>
              <a:t> Notebook.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Libraries</a:t>
            </a:r>
            <a:r>
              <a:rPr lang="en-US" dirty="0"/>
              <a:t>:</a:t>
            </a:r>
          </a:p>
          <a:p>
            <a:r>
              <a:rPr lang="en-US" dirty="0"/>
              <a:t> 	Pandas == 1.5.3,</a:t>
            </a:r>
          </a:p>
          <a:p>
            <a:r>
              <a:rPr lang="en-US" dirty="0"/>
              <a:t> 	NumPy == 1.26.4,</a:t>
            </a:r>
          </a:p>
          <a:p>
            <a:pPr algn="just"/>
            <a:r>
              <a:rPr lang="en-US" dirty="0"/>
              <a:t> 	</a:t>
            </a:r>
            <a:r>
              <a:rPr lang="en-US" dirty="0" err="1"/>
              <a:t>Scikit</a:t>
            </a:r>
            <a:r>
              <a:rPr lang="en-US" dirty="0"/>
              <a:t>-learn (</a:t>
            </a:r>
            <a:r>
              <a:rPr lang="en-US" dirty="0" err="1"/>
              <a:t>sklearn</a:t>
            </a:r>
            <a:r>
              <a:rPr lang="en-US" dirty="0"/>
              <a:t>) == 1.6.1</a:t>
            </a:r>
          </a:p>
          <a:p>
            <a:pPr algn="just"/>
            <a:r>
              <a:rPr lang="en-US" dirty="0"/>
              <a:t> 	</a:t>
            </a:r>
            <a:r>
              <a:rPr lang="en-US" dirty="0" err="1"/>
              <a:t>Scipy</a:t>
            </a:r>
            <a:r>
              <a:rPr lang="en-US" dirty="0"/>
              <a:t> == 1.15.2</a:t>
            </a:r>
          </a:p>
          <a:p>
            <a:pPr algn="just"/>
            <a:r>
              <a:rPr lang="en-US" dirty="0"/>
              <a:t> 	</a:t>
            </a:r>
            <a:r>
              <a:rPr lang="en-US" dirty="0" err="1"/>
              <a:t>Statsmodels</a:t>
            </a:r>
            <a:r>
              <a:rPr lang="en-US" dirty="0"/>
              <a:t> == 0.14.4</a:t>
            </a:r>
          </a:p>
          <a:p>
            <a:pPr algn="just"/>
            <a:r>
              <a:rPr lang="en-US" dirty="0"/>
              <a:t> 	Streamlit == 1.44.1</a:t>
            </a:r>
          </a:p>
          <a:p>
            <a:pPr algn="just"/>
            <a:r>
              <a:rPr lang="en-US" dirty="0"/>
              <a:t> 	</a:t>
            </a:r>
            <a:r>
              <a:rPr lang="en-US" dirty="0" err="1"/>
              <a:t>Tensorflow</a:t>
            </a:r>
            <a:r>
              <a:rPr lang="en-US" dirty="0"/>
              <a:t> == 2.19.0</a:t>
            </a:r>
          </a:p>
          <a:p>
            <a:r>
              <a:rPr lang="en-US" dirty="0"/>
              <a:t> 	Matplotlib &amp; Seaborn for displaying historical data on a chart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ML Models</a:t>
            </a:r>
            <a:r>
              <a:rPr lang="en-US" dirty="0"/>
              <a:t>: </a:t>
            </a:r>
            <a:r>
              <a:rPr lang="en-US" dirty="0" err="1"/>
              <a:t>RandomForestRegressor</a:t>
            </a:r>
            <a:r>
              <a:rPr lang="en-US" dirty="0"/>
              <a:t>, SVR (Support Vector Regressor)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Evaluation / Metrics</a:t>
            </a:r>
            <a:r>
              <a:rPr lang="en-US" dirty="0"/>
              <a:t>: MAE, MSE, R²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Deployment</a:t>
            </a:r>
            <a:r>
              <a:rPr lang="en-US" dirty="0"/>
              <a:t>: Streamlit, Flask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Version Control</a:t>
            </a:r>
            <a:r>
              <a:rPr lang="en-US" dirty="0"/>
              <a:t>: GitHub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Serialization</a:t>
            </a:r>
            <a:r>
              <a:rPr lang="en-US" dirty="0"/>
              <a:t>: Joblib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Data Source</a:t>
            </a:r>
            <a:r>
              <a:rPr lang="en-US" dirty="0"/>
              <a:t>: Public CSV of EV population by county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4571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68356" y="1014656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Methodology</a:t>
            </a:r>
            <a:r>
              <a:rPr lang="en-US" sz="1800" b="1" dirty="0">
                <a:solidFill>
                  <a:srgbClr val="213163"/>
                </a:solidFill>
              </a:rPr>
              <a:t> </a:t>
            </a:r>
            <a:endParaRPr lang="en-IN" sz="1800" dirty="0">
              <a:solidFill>
                <a:srgbClr val="21316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8DB458-007F-4368-93A2-D8AF35CD31D2}"/>
              </a:ext>
            </a:extLst>
          </p:cNvPr>
          <p:cNvSpPr txBox="1"/>
          <p:nvPr/>
        </p:nvSpPr>
        <p:spPr>
          <a:xfrm>
            <a:off x="401216" y="1707502"/>
            <a:ext cx="6728789" cy="4380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dirty="0"/>
              <a:t>1.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Load raw EV data by county (CSV)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AutoNum type="arabicPeriod" startAt="2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Clean and preprocess the data (missing values, format conversion)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AutoNum type="arabicPeriod" startAt="3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Feature engineering: date parsing, time index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AutoNum type="arabicPeriod" startAt="4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EDA &amp; trend plotting (e.g., EV adoption vs time)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AutoNum type="arabicPeriod" startAt="5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Model building: Random Forest, SVR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AutoNum type="arabicPeriod" startAt="6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Hyperparameter tuning with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RandomizedSearchCV</a:t>
            </a: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AutoNum type="arabicPeriod" startAt="7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Model evaluation: MAE, MSE, R²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AutoNum type="arabicPeriod" startAt="8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Charging demand estimation: 1 charger per 10 EVs (assumption-based)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AutoNum type="arabicPeriod" startAt="9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Model saving using Joblib in a pickle file (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forecasting_ev_model.pkl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AutoNum type="arabicPeriod" startAt="9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Web deployment using Streamlit (app.py)</a:t>
            </a:r>
          </a:p>
          <a:p>
            <a:endParaRPr lang="en-US" dirty="0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23759E9-BF0A-4360-B8B7-D2B5E02B8D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0563C79-FB88-4C8D-A867-F95107CE3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2455" y="1214711"/>
            <a:ext cx="4810796" cy="206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790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Problem Statement: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3DFD0-7A59-4E2F-B237-B390C1175FA9}"/>
              </a:ext>
            </a:extLst>
          </p:cNvPr>
          <p:cNvSpPr txBox="1"/>
          <p:nvPr/>
        </p:nvSpPr>
        <p:spPr>
          <a:xfrm>
            <a:off x="255104" y="1454522"/>
            <a:ext cx="9548653" cy="2390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 electric vehicles (EVs) become more popular, cities and states are struggling to answer:</a:t>
            </a:r>
          </a:p>
          <a:p>
            <a:endParaRPr lang="en-US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/>
              <a:t>"How many EVs will we have in the future?“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/>
              <a:t>"Where should we install charging stations?“</a:t>
            </a:r>
          </a:p>
          <a:p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Without data-driven forecasts, it's hard to plan infrastructure efficiently — leading to underprepared or overbuilt systems.</a:t>
            </a:r>
          </a:p>
        </p:txBody>
      </p:sp>
    </p:spTree>
    <p:extLst>
      <p:ext uri="{BB962C8B-B14F-4D97-AF65-F5344CB8AC3E}">
        <p14:creationId xmlns:p14="http://schemas.microsoft.com/office/powerpoint/2010/main" val="31965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Solution: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6E7ECE-DA17-4D72-9413-A6F24CCF569A}"/>
              </a:ext>
            </a:extLst>
          </p:cNvPr>
          <p:cNvSpPr txBox="1"/>
          <p:nvPr/>
        </p:nvSpPr>
        <p:spPr>
          <a:xfrm>
            <a:off x="381965" y="1608881"/>
            <a:ext cx="7987594" cy="4689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Build a machine learning model that can:</a:t>
            </a:r>
          </a:p>
          <a:p>
            <a:endParaRPr lang="en-US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/>
              <a:t> Learn from historical EV data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/>
              <a:t> Predict how many EVs will be registered in each county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/>
              <a:t>Estimate how many charging stations will be needed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/>
              <a:t>Provide quick answers through a simple web app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/>
              <a:t>Algorithm used such as: Random forest regressor</a:t>
            </a:r>
          </a:p>
          <a:p>
            <a:endParaRPr lang="en-US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dirty="0"/>
              <a:t>This helps governments and planners make smarter, faster decisions.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dirty="0"/>
          </a:p>
          <a:p>
            <a:r>
              <a:rPr lang="en-US" dirty="0"/>
              <a:t> You can have a look on my Code Repo:</a:t>
            </a:r>
          </a:p>
          <a:p>
            <a:r>
              <a:rPr lang="en-US" dirty="0"/>
              <a:t>  </a:t>
            </a:r>
            <a:r>
              <a:rPr lang="en-US" dirty="0">
                <a:hlinkClick r:id="rId2"/>
              </a:rPr>
              <a:t>https://github.com/Mdanas198957/EV_Vehicle_Demand_Prediction.git</a:t>
            </a:r>
            <a:endParaRPr lang="en-US" dirty="0"/>
          </a:p>
          <a:p>
            <a:r>
              <a:rPr lang="en-US" dirty="0"/>
              <a:t>And you can view the forecast here</a:t>
            </a:r>
          </a:p>
          <a:p>
            <a:r>
              <a:rPr lang="en-US" dirty="0"/>
              <a:t>Local URL:  </a:t>
            </a:r>
            <a:r>
              <a:rPr lang="en-US" dirty="0">
                <a:hlinkClick r:id="rId3"/>
              </a:rPr>
              <a:t>http://localhost:8501</a:t>
            </a:r>
            <a:endParaRPr lang="en-US" dirty="0"/>
          </a:p>
          <a:p>
            <a:r>
              <a:rPr lang="en-US" dirty="0"/>
              <a:t>You can also view this file from my </a:t>
            </a:r>
            <a:r>
              <a:rPr lang="en-US" dirty="0" err="1"/>
              <a:t>github</a:t>
            </a:r>
            <a:r>
              <a:rPr lang="en-US" dirty="0"/>
              <a:t> accessing </a:t>
            </a:r>
            <a:r>
              <a:rPr lang="en-US" u="sng" dirty="0"/>
              <a:t>app.py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2968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Screenshot of Output: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88E63E-6CE8-4224-A9E3-7BE7EA7BD6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04" y="1454522"/>
            <a:ext cx="9599271" cy="46530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534C583-BDBD-45C0-8D8E-7AB00FAE3A58}"/>
              </a:ext>
            </a:extLst>
          </p:cNvPr>
          <p:cNvSpPr txBox="1"/>
          <p:nvPr/>
        </p:nvSpPr>
        <p:spPr>
          <a:xfrm>
            <a:off x="255104" y="6204030"/>
            <a:ext cx="9768572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Once we click the live server it redirects to this app interface.</a:t>
            </a:r>
          </a:p>
        </p:txBody>
      </p:sp>
    </p:spTree>
    <p:extLst>
      <p:ext uri="{BB962C8B-B14F-4D97-AF65-F5344CB8AC3E}">
        <p14:creationId xmlns:p14="http://schemas.microsoft.com/office/powerpoint/2010/main" val="1635949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5E2302-A36F-4409-9DEB-ED9A3B573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87" y="914399"/>
            <a:ext cx="10340051" cy="537065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AE2298E-88CC-4262-BB2A-6C7BB87C9619}"/>
              </a:ext>
            </a:extLst>
          </p:cNvPr>
          <p:cNvSpPr txBox="1"/>
          <p:nvPr/>
        </p:nvSpPr>
        <p:spPr>
          <a:xfrm>
            <a:off x="150471" y="6285053"/>
            <a:ext cx="10347767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try to forecast the adoption trend for required county for 3 years. It selects a default county.</a:t>
            </a:r>
          </a:p>
        </p:txBody>
      </p:sp>
    </p:spTree>
    <p:extLst>
      <p:ext uri="{BB962C8B-B14F-4D97-AF65-F5344CB8AC3E}">
        <p14:creationId xmlns:p14="http://schemas.microsoft.com/office/powerpoint/2010/main" val="3721825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A278C7-5B08-4795-BB66-989534D91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666" y="847847"/>
            <a:ext cx="9738165" cy="54777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A790F56-3418-4C13-AE29-296178E248C4}"/>
              </a:ext>
            </a:extLst>
          </p:cNvPr>
          <p:cNvSpPr txBox="1"/>
          <p:nvPr/>
        </p:nvSpPr>
        <p:spPr>
          <a:xfrm>
            <a:off x="219919" y="6412375"/>
            <a:ext cx="10116273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Once we select a county it gives a forecast.</a:t>
            </a:r>
          </a:p>
        </p:txBody>
      </p:sp>
    </p:spTree>
    <p:extLst>
      <p:ext uri="{BB962C8B-B14F-4D97-AF65-F5344CB8AC3E}">
        <p14:creationId xmlns:p14="http://schemas.microsoft.com/office/powerpoint/2010/main" val="21820037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EC435D-F769-4963-B610-8F4ECDAC5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845" y="778521"/>
            <a:ext cx="9899779" cy="55686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55B99D9-7D9A-4247-8A6E-C05FC8B0FEC4}"/>
              </a:ext>
            </a:extLst>
          </p:cNvPr>
          <p:cNvSpPr txBox="1"/>
          <p:nvPr/>
        </p:nvSpPr>
        <p:spPr>
          <a:xfrm>
            <a:off x="345232" y="6412461"/>
            <a:ext cx="10273004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Here we compare counties and you can select </a:t>
            </a:r>
            <a:r>
              <a:rPr lang="en-US" dirty="0" err="1"/>
              <a:t>upto</a:t>
            </a:r>
            <a:r>
              <a:rPr lang="en-US" dirty="0"/>
              <a:t> 4 counties.</a:t>
            </a:r>
          </a:p>
        </p:txBody>
      </p:sp>
    </p:spTree>
    <p:extLst>
      <p:ext uri="{BB962C8B-B14F-4D97-AF65-F5344CB8AC3E}">
        <p14:creationId xmlns:p14="http://schemas.microsoft.com/office/powerpoint/2010/main" val="3676961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DED6CA2-9801-4683-A5BB-1B8B34B65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503" y="794312"/>
            <a:ext cx="10431549" cy="586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288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77EA71-6279-48B3-9FC4-DA73719A1D1A}"/>
              </a:ext>
            </a:extLst>
          </p:cNvPr>
          <p:cNvSpPr txBox="1"/>
          <p:nvPr/>
        </p:nvSpPr>
        <p:spPr>
          <a:xfrm>
            <a:off x="195943" y="839755"/>
            <a:ext cx="10730203" cy="55719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About the previous output</a:t>
            </a:r>
            <a:r>
              <a:rPr lang="en-US" dirty="0"/>
              <a:t>:</a:t>
            </a:r>
          </a:p>
          <a:p>
            <a:endParaRPr lang="en-US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dirty="0"/>
              <a:t>I would like to explain about the graphs and what the percentages refer to.</a:t>
            </a:r>
          </a:p>
          <a:p>
            <a:r>
              <a:rPr lang="en-US" dirty="0"/>
              <a:t>	In the graph and forecast summary:</a:t>
            </a:r>
          </a:p>
          <a:p>
            <a:r>
              <a:rPr lang="en-US" dirty="0"/>
              <a:t>	-&gt;Alexandria shows 63.53% growth.</a:t>
            </a:r>
          </a:p>
          <a:p>
            <a:r>
              <a:rPr lang="en-US" dirty="0"/>
              <a:t>	-&gt;Baltimore shows 600.00% growth in EV adoption.</a:t>
            </a:r>
          </a:p>
          <a:p>
            <a:r>
              <a:rPr lang="en-US" dirty="0"/>
              <a:t>	So, numerically, 600% sounds way better. Alexandria shows a sharp rise and Baltimore seems flat. </a:t>
            </a:r>
          </a:p>
          <a:p>
            <a:r>
              <a:rPr lang="en-US" dirty="0"/>
              <a:t>   But here's the catch: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If Baltimore started from a very low number (e.g., 5 EVs), then even a small increase will show a huge % growth.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On the other hand, Alexandria may already have a lot of EVs, so a 63% growth is big in volume, just not in %.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Why didn't they start at zero?</a:t>
            </a:r>
          </a:p>
          <a:p>
            <a:endParaRPr lang="en-US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Because each county already had different EV counts before forecasting began. The graph includes historical data, not just the future forecast.</a:t>
            </a:r>
          </a:p>
          <a:p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9194008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149087" y="988151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Conclusion:</a:t>
            </a:r>
            <a:r>
              <a:rPr lang="en-US" sz="1800" b="1" dirty="0">
                <a:solidFill>
                  <a:srgbClr val="213163"/>
                </a:solidFill>
              </a:rPr>
              <a:t>  </a:t>
            </a:r>
            <a:endParaRPr lang="en-IN" sz="1800" dirty="0">
              <a:solidFill>
                <a:srgbClr val="21316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D83C18-7DCE-4C18-AF0F-889DB7BB5331}"/>
              </a:ext>
            </a:extLst>
          </p:cNvPr>
          <p:cNvSpPr txBox="1"/>
          <p:nvPr/>
        </p:nvSpPr>
        <p:spPr>
          <a:xfrm>
            <a:off x="439838" y="1574157"/>
            <a:ext cx="7435199" cy="2965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 Built a complete data-to-deployment ML pipeline</a:t>
            </a:r>
          </a:p>
          <a:p>
            <a:r>
              <a:rPr lang="en-US" dirty="0"/>
              <a:t>Trained and tuned regression models (RF, SVR)</a:t>
            </a:r>
          </a:p>
          <a:p>
            <a:r>
              <a:rPr lang="en-US" dirty="0"/>
              <a:t>Estimated infrastructure demands using real-world assumptions</a:t>
            </a:r>
          </a:p>
          <a:p>
            <a:r>
              <a:rPr lang="en-US" dirty="0"/>
              <a:t>Deployed an interactive forecasting tool</a:t>
            </a:r>
          </a:p>
          <a:p>
            <a:r>
              <a:rPr lang="en-US" dirty="0"/>
              <a:t>Gained hands-on experience in clean-tech data science.</a:t>
            </a:r>
          </a:p>
          <a:p>
            <a:endParaRPr lang="en-US" dirty="0"/>
          </a:p>
          <a:p>
            <a:r>
              <a:rPr lang="en-US" dirty="0"/>
              <a:t>-&gt; THAT’S ALL I GAVE TO THIS PROJECT AND HAD A BEST LEARNING IMPACT.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88358"/>
      </p:ext>
    </p:extLst>
  </p:cSld>
  <p:clrMapOvr>
    <a:masterClrMapping/>
  </p:clrMapOvr>
</p:sld>
</file>

<file path=ppt/theme/theme1.xml><?xml version="1.0" encoding="utf-8"?>
<a:theme xmlns:a="http://schemas.openxmlformats.org/drawingml/2006/main" name="Session 01 Design Thinking &amp; Critical Thinking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ession 01 Design Thinking &amp; Critical Thinking" id="{1DE73F69-F87A-4ED3-81C1-82D2BA622E0C}" vid="{37568650-F724-47C7-905E-9640F80174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Session 01 Design Thinking &amp; Critical Thinking</Template>
  <TotalTime>225</TotalTime>
  <Words>786</Words>
  <Application>Microsoft Office PowerPoint</Application>
  <PresentationFormat>Widescreen</PresentationFormat>
  <Paragraphs>101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-apple-system</vt:lpstr>
      <vt:lpstr>Arial</vt:lpstr>
      <vt:lpstr>Calibri</vt:lpstr>
      <vt:lpstr>Times New Roman</vt:lpstr>
      <vt:lpstr>Wingdings</vt:lpstr>
      <vt:lpstr>Session 01 Design Thinking &amp; Critical Thinking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Mahesh Kurhe</dc:creator>
  <cp:lastModifiedBy>anas</cp:lastModifiedBy>
  <cp:revision>22</cp:revision>
  <dcterms:created xsi:type="dcterms:W3CDTF">2024-12-31T09:40:01Z</dcterms:created>
  <dcterms:modified xsi:type="dcterms:W3CDTF">2025-08-03T17:58:48Z</dcterms:modified>
</cp:coreProperties>
</file>